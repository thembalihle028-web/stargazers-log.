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914400"/>
            <a:ext cx="2926080" cy="2926080"/>
          </a:xfrm>
          <a:prstGeom prst="ellipse">
            <a:avLst/>
          </a:prstGeom>
          <a:solidFill>
            <a:srgbClr val="0E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1920240"/>
            <a:ext cx="1645920" cy="1645920"/>
          </a:xfrm>
          <a:prstGeom prst="ellipse">
            <a:avLst/>
          </a:prstGeom>
          <a:solidFill>
            <a:srgbClr val="4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32520" y="3886200"/>
            <a:ext cx="1005840" cy="1005840"/>
          </a:xfrm>
          <a:prstGeom prst="ellipse">
            <a:avLst/>
          </a:prstGeom>
          <a:solidFill>
            <a:srgbClr val="76E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731520"/>
            <a:ext cx="1920240" cy="347472"/>
          </a:xfrm>
          <a:prstGeom prst="roundRect">
            <a:avLst/>
          </a:prstGeom>
          <a:solidFill>
            <a:srgbClr val="4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ASA 23  |  JHB WEEK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69494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ptos Display"/>
              </a:defRPr>
            </a:pPr>
            <a:r>
              <a:t>KasiConnect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999232"/>
            <a:ext cx="6400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75B9FF"/>
                </a:solidFill>
                <a:latin typeface="Aptos"/>
              </a:defRPr>
            </a:pPr>
            <a:r>
              <a:t>Local Businesses. Local Opportunities.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794760"/>
            <a:ext cx="5669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0">
                <a:solidFill>
                  <a:srgbClr val="B9C7DB"/>
                </a:solidFill>
                <a:latin typeface="Aptos"/>
              </a:defRPr>
            </a:pPr>
            <a:r>
              <a:t>A community-first mobile app concept that helps residents discover local services and helps small businesses become more visible.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257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PITCH BY: THEMBALIHLE SAKHILE NGUBANE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56692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B9C7DB"/>
                </a:solidFill>
                <a:latin typeface="Aptos"/>
              </a:defRPr>
            </a:pPr>
            <a:r>
              <a:t>SHARK TANK APP PITCH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B9C7DB"/>
                </a:solidFill>
                <a:latin typeface="Aptos"/>
              </a:defRPr>
            </a:pPr>
            <a:r>
              <a:t>KASICONNECT  •  ASA 23 SHARK TANK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1">
                <a:solidFill>
                  <a:srgbClr val="B9C7DB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E8BFF"/>
                </a:solidFill>
                <a:latin typeface="Aptos"/>
              </a:defRPr>
            </a:pPr>
            <a:r>
              <a:t>01 /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152640"/>
                </a:solidFill>
                <a:latin typeface="Aptos Display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B9C7DB"/>
                </a:solidFill>
                <a:latin typeface="Aptos"/>
              </a:defRPr>
            </a:pPr>
            <a:r>
              <a:t>KASICONNECT  •  ASA 23 SHARK TANK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1">
                <a:solidFill>
                  <a:srgbClr val="B9C7D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152640"/>
                </a:solidFill>
                <a:latin typeface="Aptos Display"/>
              </a:defRPr>
            </a:pPr>
            <a:r>
              <a:t>Local talent can be hard to find.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0">
                <a:solidFill>
                  <a:srgbClr val="5C6D85"/>
                </a:solidFill>
                <a:latin typeface="Aptos"/>
              </a:defRPr>
            </a:pPr>
            <a:r>
              <a:t>Small businesses may struggle to reach customers. Meanwhile, residents often need a convenient way to discover nearby services.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645920"/>
            <a:ext cx="24688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F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79222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E8B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213055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52640"/>
                </a:solidFill>
                <a:latin typeface="Aptos"/>
              </a:defRPr>
            </a:pPr>
            <a:r>
              <a:t>LOW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505456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5C6D85"/>
                </a:solidFill>
                <a:latin typeface="Aptos"/>
              </a:defRPr>
            </a:pPr>
            <a:r>
              <a:t>Entrepreneurs rely on word of mouth.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1645920"/>
            <a:ext cx="24688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F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59" y="179222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E8B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59" y="213055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52640"/>
                </a:solidFill>
                <a:latin typeface="Aptos"/>
              </a:defRPr>
            </a:pPr>
            <a:r>
              <a:t>SCATTERED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59" y="2505456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5C6D85"/>
                </a:solidFill>
                <a:latin typeface="Aptos"/>
              </a:defRPr>
            </a:pPr>
            <a:r>
              <a:t>Service information can be spread across platforms.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97880" y="3566160"/>
            <a:ext cx="24688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F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37124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E8B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405079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52640"/>
                </a:solidFill>
                <a:latin typeface="Aptos"/>
              </a:defRPr>
            </a:pPr>
            <a:r>
              <a:t>MISSED OPPORTUNITY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4425696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5C6D85"/>
                </a:solidFill>
                <a:latin typeface="Aptos"/>
              </a:defRPr>
            </a:pPr>
            <a:r>
              <a:t>Customers and local businesses may never connect.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4924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4E8BFF"/>
                </a:solidFill>
                <a:latin typeface="Aptos"/>
              </a:defRPr>
            </a:pPr>
            <a:r>
              <a:t>Opportunity to validate: ask community members and business owners how they currently find and promote local services.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E8BFF"/>
                </a:solidFill>
                <a:latin typeface="Aptos"/>
              </a:defRPr>
            </a:pPr>
            <a:r>
              <a:t>02 /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Meet KasiConnect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B9C7DB"/>
                </a:solidFill>
                <a:latin typeface="Aptos"/>
              </a:defRPr>
            </a:pPr>
            <a:r>
              <a:t>KASICONNECT  •  ASA 23 SHARK TANK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1">
                <a:solidFill>
                  <a:srgbClr val="B9C7D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One simple place to discover local services.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4389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0">
                <a:solidFill>
                  <a:srgbClr val="B9C7DB"/>
                </a:solidFill>
                <a:latin typeface="Aptos"/>
              </a:defRPr>
            </a:pPr>
            <a:r>
              <a:t>KasiConnect is a mobile-first directory connecting residents with community businesses, traders, and service providers.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69080"/>
            <a:ext cx="256032" cy="347472"/>
          </a:xfrm>
          <a:prstGeom prst="roundRect">
            <a:avLst/>
          </a:prstGeom>
          <a:solidFill>
            <a:srgbClr val="4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59936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75B9FF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4059936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Aptos"/>
              </a:defRPr>
            </a:pPr>
            <a:r>
              <a:t>Browse businesses by category.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690872"/>
            <a:ext cx="256032" cy="347472"/>
          </a:xfrm>
          <a:prstGeom prst="roundRect">
            <a:avLst/>
          </a:prstGeom>
          <a:solidFill>
            <a:srgbClr val="4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681728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75B9FF"/>
                </a:solidFill>
                <a:latin typeface="Aptos"/>
              </a:defRPr>
            </a:pPr>
            <a:r>
              <a:t>CONNECT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4681728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Aptos"/>
              </a:defRPr>
            </a:pPr>
            <a:r>
              <a:t>View profiles and contact details when provided.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312664"/>
            <a:ext cx="256032" cy="347472"/>
          </a:xfrm>
          <a:prstGeom prst="roundRect">
            <a:avLst/>
          </a:prstGeom>
          <a:solidFill>
            <a:srgbClr val="4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30352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75B9FF"/>
                </a:solidFill>
                <a:latin typeface="Aptos"/>
              </a:defRPr>
            </a:pPr>
            <a:r>
              <a:t>GROW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530352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Aptos"/>
              </a:defRPr>
            </a:pPr>
            <a:r>
              <a:t>Help local entrepreneurs improve visibility.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1417320"/>
            <a:ext cx="3840480" cy="4480560"/>
          </a:xfrm>
          <a:prstGeom prst="roundRect">
            <a:avLst/>
          </a:prstGeom>
          <a:solidFill>
            <a:srgbClr val="F1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17373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B9C7DB"/>
                </a:solidFill>
                <a:latin typeface="Aptos"/>
              </a:defRPr>
            </a:pPr>
            <a:r>
              <a:t>Good morning 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1031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52640"/>
                </a:solidFill>
                <a:latin typeface="Aptos Display"/>
              </a:defRPr>
            </a:pPr>
            <a:r>
              <a:t>Find your next favourite.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2926080"/>
            <a:ext cx="658368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3017520"/>
            <a:ext cx="658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152640"/>
                </a:solidFill>
                <a:latin typeface="Aptos"/>
              </a:defRPr>
            </a:pPr>
            <a:r>
              <a:t>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364992"/>
            <a:ext cx="65836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1">
                <a:solidFill>
                  <a:srgbClr val="B9C7DB"/>
                </a:solidFill>
                <a:latin typeface="Aptos"/>
              </a:defRPr>
            </a:pPr>
            <a:r>
              <a:t>Food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36992" y="2926080"/>
            <a:ext cx="658368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36992" y="3017520"/>
            <a:ext cx="658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152640"/>
                </a:solidFill>
                <a:latin typeface="Aptos"/>
              </a:defRPr>
            </a:pPr>
            <a:r>
              <a:t>✂️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3364992"/>
            <a:ext cx="65836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1">
                <a:solidFill>
                  <a:srgbClr val="B9C7DB"/>
                </a:solidFill>
                <a:latin typeface="Aptos"/>
              </a:defRPr>
            </a:pPr>
            <a:r>
              <a:t>Beauty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41664" y="2926080"/>
            <a:ext cx="658368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41664" y="3017520"/>
            <a:ext cx="658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152640"/>
                </a:solidFill>
                <a:latin typeface="Aptos"/>
              </a:defRPr>
            </a:pPr>
            <a:r>
              <a:t>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41664" y="3364992"/>
            <a:ext cx="65836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1">
                <a:solidFill>
                  <a:srgbClr val="B9C7DB"/>
                </a:solidFill>
                <a:latin typeface="Aptos"/>
              </a:defRPr>
            </a:pPr>
            <a:r>
              <a:t>Repairs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46336" y="2926080"/>
            <a:ext cx="658368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017520"/>
            <a:ext cx="658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152640"/>
                </a:solidFill>
                <a:latin typeface="Aptos"/>
              </a:defRPr>
            </a:pPr>
            <a:r>
              <a:t>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364992"/>
            <a:ext cx="65836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1">
                <a:solidFill>
                  <a:srgbClr val="B9C7DB"/>
                </a:solidFill>
                <a:latin typeface="Aptos"/>
              </a:defRPr>
            </a:pPr>
            <a:r>
              <a:t>Fashion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3977639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52640"/>
                </a:solidFill>
                <a:latin typeface="Aptos"/>
              </a:defRPr>
            </a:pPr>
            <a:r>
              <a:t>Popular nearby · sample data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0" y="4389120"/>
            <a:ext cx="30632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9480" y="448055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0">
                <a:solidFill>
                  <a:srgbClr val="152640"/>
                </a:solidFill>
                <a:latin typeface="Aptos"/>
              </a:defRPr>
            </a:pPr>
            <a:r>
              <a:t>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47141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52640"/>
                </a:solidFill>
                <a:latin typeface="Aptos"/>
              </a:defRPr>
            </a:pPr>
            <a:r>
              <a:t>Neighbourhood Kitchen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468172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B9C7DB"/>
                </a:solidFill>
                <a:latin typeface="Aptos"/>
              </a:defRPr>
            </a:pPr>
            <a:r>
              <a:t>Food &amp; catering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0" y="5029200"/>
            <a:ext cx="30632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9480" y="5120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0">
                <a:solidFill>
                  <a:srgbClr val="152640"/>
                </a:solidFill>
                <a:latin typeface="Aptos"/>
              </a:defRPr>
            </a:pPr>
            <a:r>
              <a:t>✂️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511149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52640"/>
                </a:solidFill>
                <a:latin typeface="Aptos"/>
              </a:defRPr>
            </a:pPr>
            <a:r>
              <a:t>Fresh Cut Studio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532180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B9C7DB"/>
                </a:solidFill>
                <a:latin typeface="Aptos"/>
              </a:defRPr>
            </a:pPr>
            <a:r>
              <a:t>Hair &amp; beauty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E8BFF"/>
                </a:solidFill>
                <a:latin typeface="Aptos"/>
              </a:defRPr>
            </a:pPr>
            <a:r>
              <a:t>03 /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152640"/>
                </a:solidFill>
                <a:latin typeface="Aptos Display"/>
              </a:defRPr>
            </a:pPr>
            <a:r>
              <a:t>Designed around useful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B9C7DB"/>
                </a:solidFill>
                <a:latin typeface="Aptos"/>
              </a:defRPr>
            </a:pPr>
            <a:r>
              <a:t>KASICONNECT  •  ASA 23 SHARK TANK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1">
                <a:solidFill>
                  <a:srgbClr val="B9C7D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1206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F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4767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4E8BFF"/>
                </a:solidFill>
                <a:latin typeface="Aptos"/>
              </a:defRPr>
            </a:pPr>
            <a:r>
              <a:t>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9202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52640"/>
                </a:solidFill>
                <a:latin typeface="Aptos"/>
              </a:defRPr>
            </a:pPr>
            <a:r>
              <a:t>Search &amp; 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3794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C6D85"/>
                </a:solidFill>
                <a:latin typeface="Aptos"/>
              </a:defRPr>
            </a:pPr>
            <a:r>
              <a:t>Search by name, category, and area.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691640"/>
            <a:ext cx="51206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F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194767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4E8BFF"/>
                </a:solidFill>
                <a:latin typeface="Aptos"/>
              </a:defRPr>
            </a:pPr>
            <a:r>
              <a:t>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59" y="19202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52640"/>
                </a:solidFill>
                <a:latin typeface="Aptos"/>
              </a:defRPr>
            </a:pPr>
            <a:r>
              <a:t>Business directory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59" y="2377440"/>
            <a:ext cx="3794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C6D85"/>
                </a:solidFill>
                <a:latin typeface="Aptos"/>
              </a:defRPr>
            </a:pPr>
            <a:r>
              <a:t>Browse local services in one place.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66160"/>
            <a:ext cx="51206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F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822191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4E8BFF"/>
                </a:solidFill>
                <a:latin typeface="Aptos"/>
              </a:defRPr>
            </a:pPr>
            <a:r>
              <a:t>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79476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52640"/>
                </a:solidFill>
                <a:latin typeface="Aptos"/>
              </a:defRPr>
            </a:pPr>
            <a:r>
              <a:t>Business profiles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251960"/>
            <a:ext cx="3794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C6D85"/>
                </a:solidFill>
                <a:latin typeface="Aptos"/>
              </a:defRPr>
            </a:pPr>
            <a:r>
              <a:t>See descriptions, areas, and available contact details.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3566160"/>
            <a:ext cx="51206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F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3822191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4E8BFF"/>
                </a:solidFill>
                <a:latin typeface="Aptos"/>
              </a:defRPr>
            </a:pPr>
            <a:r>
              <a:t>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59" y="379476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52640"/>
                </a:solidFill>
                <a:latin typeface="Aptos"/>
              </a:defRPr>
            </a:pPr>
            <a:r>
              <a:t>Listing request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59" y="4251960"/>
            <a:ext cx="3794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C6D85"/>
                </a:solidFill>
                <a:latin typeface="Aptos"/>
              </a:defRPr>
            </a:pPr>
            <a:r>
              <a:t>Business owners can submit details for review.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235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E8BFF"/>
                </a:solidFill>
                <a:latin typeface="Aptos"/>
              </a:defRPr>
            </a:pPr>
            <a:r>
              <a:t>Current prototype: interactive front end with sample listings and browser-side form validation.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E8BFF"/>
                </a:solidFill>
                <a:latin typeface="Aptos"/>
              </a:defRPr>
            </a:pPr>
            <a:r>
              <a:t>04 / TARGET USERS &amp;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Who benefits?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B9C7DB"/>
                </a:solidFill>
                <a:latin typeface="Aptos"/>
              </a:defRPr>
            </a:pPr>
            <a:r>
              <a:t>KASICONNECT  •  ASA 23 SHARK TANK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1">
                <a:solidFill>
                  <a:srgbClr val="B9C7D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487168" cy="2331720"/>
          </a:xfrm>
          <a:prstGeom prst="roundRect">
            <a:avLst/>
          </a:prstGeom>
          <a:solidFill>
            <a:srgbClr val="0E2038"/>
          </a:solidFill>
          <a:ln>
            <a:solidFill>
              <a:srgbClr val="25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84831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0">
                <a:solidFill>
                  <a:srgbClr val="FFFFFF"/>
                </a:solidFill>
                <a:latin typeface="Aptos"/>
              </a:defRPr>
            </a:pPr>
            <a:r>
              <a:t>🏘️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74320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Residents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246120"/>
            <a:ext cx="2057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B9C7DB"/>
                </a:solidFill>
                <a:latin typeface="Aptos"/>
              </a:defRPr>
            </a:pPr>
            <a:r>
              <a:t>Find local services more conveniently.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47872" y="1828800"/>
            <a:ext cx="2487168" cy="2331720"/>
          </a:xfrm>
          <a:prstGeom prst="roundRect">
            <a:avLst/>
          </a:prstGeom>
          <a:solidFill>
            <a:srgbClr val="0E2038"/>
          </a:solidFill>
          <a:ln>
            <a:solidFill>
              <a:srgbClr val="25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2084831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0">
                <a:solidFill>
                  <a:srgbClr val="FFFFFF"/>
                </a:solidFill>
                <a:latin typeface="Aptos"/>
              </a:defRPr>
            </a:pPr>
            <a:r>
              <a:t>🧑🏽‍🍳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74320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Small businesses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246120"/>
            <a:ext cx="2057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B9C7DB"/>
                </a:solidFill>
                <a:latin typeface="Aptos"/>
              </a:defRPr>
            </a:pPr>
            <a:r>
              <a:t>Gain visibility and reach new potential customers.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64224" y="1828800"/>
            <a:ext cx="2487168" cy="2331720"/>
          </a:xfrm>
          <a:prstGeom prst="roundRect">
            <a:avLst/>
          </a:prstGeom>
          <a:solidFill>
            <a:srgbClr val="0E2038"/>
          </a:solidFill>
          <a:ln>
            <a:solidFill>
              <a:srgbClr val="25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084831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0">
                <a:solidFill>
                  <a:srgbClr val="FFFFFF"/>
                </a:solidFill>
                <a:latin typeface="Aptos"/>
              </a:defRPr>
            </a:pPr>
            <a:r>
              <a:t>🛍️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74320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Informal traders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3246120"/>
            <a:ext cx="2057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B9C7DB"/>
                </a:solidFill>
                <a:latin typeface="Aptos"/>
              </a:defRPr>
            </a:pPr>
            <a:r>
              <a:t>Showcase products and services to nearby people.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0576" y="1828800"/>
            <a:ext cx="2487168" cy="2331720"/>
          </a:xfrm>
          <a:prstGeom prst="roundRect">
            <a:avLst/>
          </a:prstGeom>
          <a:solidFill>
            <a:srgbClr val="0E2038"/>
          </a:solidFill>
          <a:ln>
            <a:solidFill>
              <a:srgbClr val="25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81744" y="2084831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0">
                <a:solidFill>
                  <a:srgbClr val="FFFFFF"/>
                </a:solidFill>
                <a:latin typeface="Aptos"/>
              </a:defRPr>
            </a:pPr>
            <a:r>
              <a:t>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1744" y="274320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Community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1744" y="3246120"/>
            <a:ext cx="2057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B9C7DB"/>
                </a:solidFill>
                <a:latin typeface="Aptos"/>
              </a:defRPr>
            </a:pPr>
            <a:r>
              <a:t>Encourage local spending and connections.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92040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75B9FF"/>
                </a:solidFill>
                <a:latin typeface="Aptos"/>
              </a:defRPr>
            </a:pPr>
            <a:r>
              <a:t>Success would mean more relevant searches, verified listings, repeat users, and useful connections—not just downloads.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E8BFF"/>
                </a:solidFill>
                <a:latin typeface="Aptos"/>
              </a:defRPr>
            </a:pPr>
            <a:r>
              <a:t>05 /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152640"/>
                </a:solidFill>
                <a:latin typeface="Aptos Display"/>
              </a:defRPr>
            </a:pPr>
            <a:r>
              <a:t>A possible path to sustainability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B9C7DB"/>
                </a:solidFill>
                <a:latin typeface="Aptos"/>
              </a:defRPr>
            </a:pPr>
            <a:r>
              <a:t>KASICONNECT  •  ASA 23 SHARK TANK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1">
                <a:solidFill>
                  <a:srgbClr val="B9C7D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52640"/>
                </a:solidFill>
                <a:latin typeface="Aptos Display"/>
              </a:defRPr>
            </a:pPr>
            <a:r>
              <a:t>Start small. Learn. Expand responsibly.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5C6D85"/>
                </a:solidFill>
                <a:latin typeface="Aptos"/>
              </a:defRPr>
            </a:pPr>
            <a:r>
              <a:t>Pilot in one community, test whether users return, and ask business owners what value they would pay for.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600200"/>
            <a:ext cx="5029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F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1764792"/>
            <a:ext cx="1691640" cy="347472"/>
          </a:xfrm>
          <a:prstGeom prst="roundRect">
            <a:avLst/>
          </a:prstGeom>
          <a:solidFill>
            <a:srgbClr val="4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FREE BASIC LISTING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801368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152640"/>
                </a:solidFill>
                <a:latin typeface="Aptos"/>
              </a:defRPr>
            </a:pPr>
            <a:r>
              <a:t>Keep the directory accessible.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834640"/>
            <a:ext cx="5029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F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2999232"/>
            <a:ext cx="1691640" cy="347472"/>
          </a:xfrm>
          <a:prstGeom prst="roundRect">
            <a:avLst/>
          </a:prstGeom>
          <a:solidFill>
            <a:srgbClr val="0E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PROMOTED LISTINGS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035808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152640"/>
                </a:solidFill>
                <a:latin typeface="Aptos"/>
              </a:defRPr>
            </a:pPr>
            <a:r>
              <a:t>Businesses may pay for extra visibility.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4069080"/>
            <a:ext cx="5029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F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4233672"/>
            <a:ext cx="1691640" cy="347472"/>
          </a:xfrm>
          <a:prstGeom prst="roundRect">
            <a:avLst/>
          </a:prstGeom>
          <a:solidFill>
            <a:srgbClr val="0E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OPTIONAL SUBSCRIPTION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270248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152640"/>
                </a:solidFill>
                <a:latin typeface="Aptos"/>
              </a:defRPr>
            </a:pPr>
            <a:r>
              <a:t>Offer useful tools in a paid tier.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663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4E8BFF"/>
                </a:solidFill>
                <a:latin typeface="Aptos"/>
              </a:defRPr>
            </a:pPr>
            <a:r>
              <a:t>These are hypotheses, not proven revenue. Validate willingness to pay before setting prices or forecasting income.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E8BFF"/>
                </a:solidFill>
                <a:latin typeface="Aptos"/>
              </a:defRPr>
            </a:pPr>
            <a:r>
              <a:t>06 / ADVANTAGE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Why KasiConnect?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B9C7DB"/>
                </a:solidFill>
                <a:latin typeface="Aptos"/>
              </a:defRPr>
            </a:pPr>
            <a:r>
              <a:t>KASICONNECT  •  ASA 23 SHARK TANK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1">
                <a:solidFill>
                  <a:srgbClr val="B9C7D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Community-first, simple, and focused.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2560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76E1A6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331720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75B9FF"/>
                </a:solidFill>
                <a:latin typeface="Aptos"/>
              </a:defRPr>
            </a:pPr>
            <a:r>
              <a:t>Local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33172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B9C7DB"/>
                </a:solidFill>
                <a:latin typeface="Aptos"/>
              </a:defRPr>
            </a:pPr>
            <a:r>
              <a:t>Built around discovering services within a community.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54679"/>
            <a:ext cx="2560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76E1A6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54679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75B9FF"/>
                </a:solidFill>
                <a:latin typeface="Aptos"/>
              </a:defRPr>
            </a:pPr>
            <a:r>
              <a:t>Simple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3154679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B9C7DB"/>
                </a:solidFill>
                <a:latin typeface="Aptos"/>
              </a:defRPr>
            </a:pPr>
            <a:r>
              <a:t>Search, categories, profiles, and a listing request.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77639"/>
            <a:ext cx="2560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76E1A6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977639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75B9FF"/>
                </a:solidFill>
                <a:latin typeface="Aptos"/>
              </a:defRPr>
            </a:pPr>
            <a:r>
              <a:t>Room to grow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977639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B9C7DB"/>
                </a:solidFill>
                <a:latin typeface="Aptos"/>
              </a:defRPr>
            </a:pPr>
            <a:r>
              <a:t>Can expand to verified listings, reviews, and secure messaging.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600200"/>
            <a:ext cx="4389120" cy="3566160"/>
          </a:xfrm>
          <a:prstGeom prst="roundRect">
            <a:avLst/>
          </a:prstGeom>
          <a:solidFill>
            <a:srgbClr val="0E2038"/>
          </a:solidFill>
          <a:ln>
            <a:solidFill>
              <a:srgbClr val="25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874519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75B9FF"/>
                </a:solidFill>
                <a:latin typeface="Aptos"/>
              </a:defRPr>
            </a:pPr>
            <a:r>
              <a:t>PILOT ROADMAP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2423160"/>
            <a:ext cx="347472" cy="347472"/>
          </a:xfrm>
          <a:prstGeom prst="roundRect">
            <a:avLst/>
          </a:prstGeom>
          <a:solidFill>
            <a:srgbClr val="4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241401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Listen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414016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B9C7DB"/>
                </a:solidFill>
                <a:latin typeface="Aptos"/>
              </a:defRPr>
            </a:pPr>
            <a:r>
              <a:t>Interview residents &amp; businesses.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3044952"/>
            <a:ext cx="347472" cy="347472"/>
          </a:xfrm>
          <a:prstGeom prst="roundRect">
            <a:avLst/>
          </a:prstGeom>
          <a:solidFill>
            <a:srgbClr val="4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303580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035808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B9C7DB"/>
                </a:solidFill>
                <a:latin typeface="Aptos"/>
              </a:defRPr>
            </a:pPr>
            <a:r>
              <a:t>Pilot with verified listings.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3666744"/>
            <a:ext cx="347472" cy="347472"/>
          </a:xfrm>
          <a:prstGeom prst="roundRect">
            <a:avLst/>
          </a:prstGeom>
          <a:solidFill>
            <a:srgbClr val="4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36576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Improve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65760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B9C7DB"/>
                </a:solidFill>
                <a:latin typeface="Aptos"/>
              </a:defRPr>
            </a:pPr>
            <a:r>
              <a:t>Use feedback to prioritise updates.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4288536"/>
            <a:ext cx="347472" cy="347472"/>
          </a:xfrm>
          <a:prstGeom prst="roundRect">
            <a:avLst/>
          </a:prstGeom>
          <a:solidFill>
            <a:srgbClr val="4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27939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Grow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279392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B9C7DB"/>
                </a:solidFill>
                <a:latin typeface="Aptos"/>
              </a:defRPr>
            </a:pPr>
            <a:r>
              <a:t>Expand if demand is demonstrated.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532120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B9C7DB"/>
                </a:solidFill>
                <a:latin typeface="Aptos"/>
              </a:defRPr>
            </a:pPr>
            <a:r>
              <a:t>Differentiation must be validated against existing directories and community groups.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828800" cy="347472"/>
          </a:xfrm>
          <a:prstGeom prst="roundRect">
            <a:avLst/>
          </a:prstGeom>
          <a:solidFill>
            <a:srgbClr val="4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772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Invest in local talent.</a:t>
            </a:r>
            <a:br/>
            <a:r>
              <a:t>Strengthen communities.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063240"/>
            <a:ext cx="6675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0">
                <a:solidFill>
                  <a:srgbClr val="B9C7DB"/>
                </a:solidFill>
                <a:latin typeface="Aptos"/>
              </a:defRPr>
            </a:pPr>
            <a:r>
              <a:t>With support, KasiConnect can pilot a practical way for local customers and businesses to find one another.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2519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75B9FF"/>
                </a:solidFill>
                <a:latin typeface="Aptos Display"/>
              </a:defRPr>
            </a:pPr>
            <a:r>
              <a:t>KasiConnect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75488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Local Businesses. Local Opportunities.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6235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Thank you. Questions?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920240"/>
            <a:ext cx="2560320" cy="2377440"/>
          </a:xfrm>
          <a:prstGeom prst="roundRect">
            <a:avLst/>
          </a:prstGeom>
          <a:solidFill>
            <a:srgbClr val="0E2038"/>
          </a:solidFill>
          <a:ln>
            <a:solidFill>
              <a:srgbClr val="25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3317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500" b="1">
                <a:solidFill>
                  <a:srgbClr val="FFFFFF"/>
                </a:solidFill>
                <a:latin typeface="Aptos"/>
              </a:defRPr>
            </a:pPr>
            <a:r>
              <a:t>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2971800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75B9FF"/>
                </a:solidFill>
                <a:latin typeface="Aptos"/>
              </a:defRPr>
            </a:pPr>
            <a:r>
              <a:t>Local discovery.</a:t>
            </a:r>
            <a:br/>
            <a:r>
              <a:t>Community growth.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B9C7DB"/>
                </a:solidFill>
                <a:latin typeface="Aptos"/>
              </a:defRPr>
            </a:pPr>
            <a:r>
              <a:t>KASICONNECT  •  ASA 23 SHARK TANK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1">
                <a:solidFill>
                  <a:srgbClr val="B9C7DB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